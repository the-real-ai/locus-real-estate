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Тема — SOLID: пять принципов проектирования классов и модулей. Цель презентации: понять, что означает каждая буква, и увидеть короткие примеры на C#.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— это акроним из первых букв пяти принципов. Принципы сформулировал Роберт Мартин (Uncle Bob), а удобное название предложил Майкл Фезерс. Дальше разберём каждый принцип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Проектирование без принципов приводит к жёсткому, хрупкому и неподвижному коду. SOLID помогает этого избежать.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расчёт, хранение и рассылку держит один класс, любая из трёх причин заставит его менять. Разделяем — и изменения становятся локальными.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Вместо огромного switch по типу скидки вводим интерфейс. Новая скидка добавляется классом, существующий код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Классический пример: квадрат — прямоугольник в математике, но не в коде. Код, который задаёт ширину и высоту независимо, ломается на квадрате. Решение — общая абстракция, например IShape.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Простой принтер не обязан уметь сканировать. Разделяем интерфейс, и каждый класс реализует только то, что ему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OrderService не знает, как именно отправляется письмо: SMTP, очередь или тестовая заглушка. Это и есть внедрение зависимостей.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класс Order считает сумму, пишет в базу и отправляет письма: изменение SQL, формата письма или формулы заставит менять один и тот же класс. Справа каждая обязанность вынесена в отдельный класс.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каждый новый тип скидки требует менять проверенный метод. Справа код расширяется новыми классами, а вызывающий код работает с IDiscount и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код, который вызывает Fly() у любой птицы, упадёт на пингвине. Справа умение летать вынесено в интерфейс IFlyable, и подстановка безопасна.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большой интерфейс заставляет Robot реализовать метод Eat, который ему не нужен. Справа интерфейсы разделены, и каждый класс берёт только нужные.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OrderService сам создаёт SmtpSender, поэтому его нельзя проверить без реальной почты. Справа зависимость приходит через конструктор, и в тестах подставляется заглушка.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Короткая сводка: что означает каждая буква и какую пользу даёт принцип.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не переусердствовать: избыточные абстракции тоже вредят. Принципы — инструмент, а не самоцель.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 и ответьте на вопросы аудитории.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Объектно-ориентированное проектирование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0116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3891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принципов, которые делают код понятным, гибким и удобным для тестирования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означает SOLID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036003" cy="3383280"/>
          </a:xfrm>
          <a:prstGeom prst="roundRect">
            <a:avLst>
              <a:gd name="adj" fmla="val 4491"/>
            </a:avLst>
          </a:prstGeom>
          <a:solidFill>
            <a:srgbClr val="FBFAF6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1488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418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31920"/>
            <a:ext cx="1578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единственной ответственности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1920240"/>
            <a:ext cx="2036003" cy="3383280"/>
          </a:xfrm>
          <a:prstGeom prst="roundRect">
            <a:avLst>
              <a:gd name="adj" fmla="val 4491"/>
            </a:avLst>
          </a:prstGeom>
          <a:solidFill>
            <a:srgbClr val="FBFAF6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87563" y="21488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418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87563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087563" y="324612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Closed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87563" y="3931920"/>
            <a:ext cx="1578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открытости и закрытости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77846" y="1920240"/>
            <a:ext cx="2036003" cy="3383280"/>
          </a:xfrm>
          <a:prstGeom prst="roundRect">
            <a:avLst>
              <a:gd name="adj" fmla="val 4491"/>
            </a:avLst>
          </a:prstGeom>
          <a:solidFill>
            <a:srgbClr val="FBFAF6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6446" y="21488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418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06446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5306446" y="324612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Liskov Substitution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06446" y="3931920"/>
            <a:ext cx="1578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подстановки Барбары Лисков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6729" y="1920240"/>
            <a:ext cx="2036003" cy="3383280"/>
          </a:xfrm>
          <a:prstGeom prst="roundRect">
            <a:avLst>
              <a:gd name="adj" fmla="val 4491"/>
            </a:avLst>
          </a:prstGeom>
          <a:solidFill>
            <a:srgbClr val="FBFAF6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5329" y="21488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418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25329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7525329" y="324612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Segregation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25329" y="3931920"/>
            <a:ext cx="1578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разделения интерфейсов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15612" y="1920240"/>
            <a:ext cx="2036003" cy="3383280"/>
          </a:xfrm>
          <a:prstGeom prst="roundRect">
            <a:avLst>
              <a:gd name="adj" fmla="val 4491"/>
            </a:avLst>
          </a:prstGeom>
          <a:solidFill>
            <a:srgbClr val="FBFAF6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44212" y="21488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418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44212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9744212" y="324612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Inversion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744212" y="3931920"/>
            <a:ext cx="1578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инверсии зависимостей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Сформулированы Робертом Мартином в начале 2000-х годов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нужны принципы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них код со временем приобретает три болезни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D23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74320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Жёсткость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74720"/>
            <a:ext cx="28142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Любое изменение тянет за собой правки во многих местах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68698" y="246888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D23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8738" y="274320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Хрупкость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3474720"/>
            <a:ext cx="28142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в одном месте неожиданно ломает другое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97317" y="246888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D23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7357" y="274320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Неподвижность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417357" y="3474720"/>
            <a:ext cx="28142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трудно переиспользовать: он спутан с окружением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 Principle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Единственная ответственность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класса должна быть только одна причина для изменения.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класс отвечает за одну задачу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 нарушения: класс сразу считает, сохраняет в базу и отправляет письма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2011680"/>
            <a:ext cx="6110935" cy="4023360"/>
          </a:xfrm>
          <a:prstGeom prst="roundRect">
            <a:avLst>
              <a:gd name="adj" fmla="val 272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2212848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три задачи — три класса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743200"/>
            <a:ext cx="5562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InvoiceCalculator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Total(Invoice i);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InvoiceRepository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Save(Invoice i);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InvoiceMailer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Send(Invoice i); 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 Closed Principle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Открытость и закрытость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Сущности открыты для расширения, но закрыты для изменения.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поведение — это новый класс, а не новая ветка if или switch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Проверенный код остаётся нетронутым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2011680"/>
            <a:ext cx="6110935" cy="4023360"/>
          </a:xfrm>
          <a:prstGeom prst="roundRect">
            <a:avLst>
              <a:gd name="adj" fmla="val 272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2212848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новая скидка — новый класс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743200"/>
            <a:ext cx="5562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IDiscount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VipDiscount : IDiscount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*/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SaleDiscount : IDiscount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*/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Liskov Substitution Principle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— Подстановка Лисков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Наследник должен заменять базовый класс, не ломая программу.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Подкласс не должен нарушать ожидания клиентов базового класса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приходится проверять тип через is, подстановка уже нарушена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2011680"/>
            <a:ext cx="6110935" cy="4023360"/>
          </a:xfrm>
          <a:prstGeom prst="roundRect">
            <a:avLst>
              <a:gd name="adj" fmla="val 272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2212848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Нарушение: Square нельзя подставить вместо Rectangle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743200"/>
            <a:ext cx="5562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Rectangle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Width 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Height 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 : Rectangle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Width и Height меняются вместе */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Segregation Principle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— Разделение интерфейсов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не должен зависеть от методов, которыми не пользуется.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узких интерфейсов лучше одного «жирного»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Пустые методы и NotImplementedException — признак нарушения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2011680"/>
            <a:ext cx="6110935" cy="4023360"/>
          </a:xfrm>
          <a:prstGeom prst="roundRect">
            <a:avLst>
              <a:gd name="adj" fmla="val 272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2212848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узкие интерфейсы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743200"/>
            <a:ext cx="5562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IPrinter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Print(Doc d);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IScanner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Scan(Doc d);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MultiFunctionDevice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IPrinter, IScanner { 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Inversion Principle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Инверсия зависимостей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верхнего уровня зависят от абстракций, а не от деталей.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передаются снаружи через конструктор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Реализацию легко подменить заглушкой в тестах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2011680"/>
            <a:ext cx="6110935" cy="4023360"/>
          </a:xfrm>
          <a:prstGeom prst="roundRect">
            <a:avLst>
              <a:gd name="adj" fmla="val 272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2212848"/>
            <a:ext cx="5562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зависимость от интерфейса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743200"/>
            <a:ext cx="55622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OrderService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IEmailSender _sender;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OrderService(IEmailSender s)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_sender = s;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· Single Responsibility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S: заказ в магазине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Плохо: три причины для изменения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расчёт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SaveToDb()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SQL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SendEmail()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SMTP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по одной причине на класс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расчёт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OrderRepository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Save(Order o)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SQL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OrderNotifier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Send(Order o)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SMTP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· Open / Closed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O: скидки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Плохо: новая скидка — правка метода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type,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(type)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"vip":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* 0.9m;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"sale":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 * 0.8m;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здесь придётся добавлять новые case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новая скидка — новый класс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IDiscount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VipDiscount : IDiscount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p) =&gt; p * 0.9m;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SaleDiscount : IDiscount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p) =&gt; p * 0.8m;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· Liskov Substitution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L: птицы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Плохо: Penguin ломает контракт Bird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Penguin : Bird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NotSupportedException();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летают только те, кто умеет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Bird {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IFlyable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Sparrow : Bird, IFlyable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Penguin : Bird { 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· Interface Segregation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I: работники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Плохо: робот вынужден «уметь есть»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IWorker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Eat();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Robot : IWorker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Work() 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8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*/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Eat()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NotImplementedException();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интерфейсы по ролям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IWorkable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IFeedable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Eat();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Robot : IWorkable {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Human : IWorkable, IFeedable { 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· Dependency Inversion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D: отправка писем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Плохо: жёсткая связь с SmtpSender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OrderService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SmtpSender _sender =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SmtpSender();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Complete(Order o)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_sender.Send(o);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18608" cy="4114800"/>
          </a:xfrm>
          <a:prstGeom prst="roundRect">
            <a:avLst>
              <a:gd name="adj" fmla="val 2667"/>
            </a:avLst>
          </a:prstGeom>
          <a:solidFill>
            <a:srgbClr val="0B0E13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7328" y="221284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Хорошо: зависимость от интерфейса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74320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ISender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Send(Order o);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OrderService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ISender _sender;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F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OrderService(ISender sender)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_sender = sender; 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SOLID вкратце</a:t>
            </a:r>
            <a:endParaRPr lang="en-US" sz="4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510735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Принцип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Суть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даёт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Одна причина для изменения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Простые и понятные классы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Расширяем, не переписывая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Безопасное добавление функций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Наследник заменяет предка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Предсказуемые иерархии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Узкие интерфейсы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лишних зависимостей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Зависим от абстракций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8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Гибкость и тестируемость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принципы проектирования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C4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A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Ориентиры, а не догма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918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усложняйте код заранее. Начинайте с простого решения и применяйте принципы там, где изменения становятся болезненными.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722815" y="6309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023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SOLID: понятный код, который легко менять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Принципы SOLID</dc:title>
  <dc:subject>PptxGenJS Presentation</dc:subject>
  <dc:creator>PptxGenJS</dc:creator>
  <cp:lastModifiedBy>PptxGenJS</cp:lastModifiedBy>
  <cp:revision>1</cp:revision>
  <dcterms:created xsi:type="dcterms:W3CDTF">2026-09-29T15:19:49Z</dcterms:created>
  <dcterms:modified xsi:type="dcterms:W3CDTF">2026-09-29T15:19:49Z</dcterms:modified>
</cp:coreProperties>
</file>